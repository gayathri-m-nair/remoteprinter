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847A">
              <a:alpha val="20000"/>
            </a:srgbClr>
          </a:solidFill>
          <a:ln w="12700">
            <a:solidFill>
              <a:srgbClr val="00847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F9A3C">
              <a:alpha val="15000"/>
            </a:srgbClr>
          </a:solidFill>
          <a:ln w="12700">
            <a:solidFill>
              <a:srgbClr val="FF9A3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0847A"/>
          </a:solidFill>
          <a:ln w="12700">
            <a:solidFill>
              <a:srgbClr val="0084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SahAI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Citizen Deserves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Know Their Rights.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A89D"/>
                </a:solidFill>
              </a:rPr>
              <a:t>A voice-first, multilingual AI that guides Indians through government welfare—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A89D"/>
                </a:solidFill>
              </a:rPr>
              <a:t>simply, clearly, and in the language they speak.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A3C"/>
                </a:solidFill>
              </a:rPr>
              <a:t>Malayalam  ·  Hindi  ·  English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4630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F58"/>
          </a:solidFill>
          <a:ln w="12700">
            <a:solidFill>
              <a:srgbClr val="005F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A89D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Millions of eligible Indians never receive welfare benefits.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B68"/>
                </a:solidFill>
              </a:rPr>
              <a:t>schemes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B68"/>
                </a:solidFill>
              </a:rPr>
              <a:t>central &amp; state govts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B68"/>
                </a:solidFill>
              </a:rPr>
              <a:t>eligible citizens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B68"/>
                </a:solidFill>
              </a:rPr>
              <a:t>never apply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B68"/>
                </a:solidFill>
              </a:rPr>
              <a:t>visits to offices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B68"/>
                </a:solidFill>
              </a:rPr>
              <a:t>before clarity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201168" cy="2011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71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C"/>
                </a:solidFill>
              </a:rPr>
              <a:t>Eligibility criteria are complex and fragmented across portals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201168" cy="2011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20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C"/>
                </a:solidFill>
              </a:rPr>
              <a:t>Language barriers exclude rural, elderly, and first-time digital users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201168" cy="201168"/>
          </a:xfrm>
          <a:prstGeom prst="ellipse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2C"/>
                </a:solidFill>
              </a:rPr>
              <a:t>Awareness exists — but actionable clarity does not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A3C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SahAI — Your AI Welfare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Guide, In Your Language.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D"/>
                </a:solidFill>
              </a:rPr>
              <a:t>Voice-first. Conversational. Multilingual.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A89D"/>
                </a:solidFill>
              </a:rPr>
              <a:t>No forms. No jargon. No confusion.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50292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47A">
                <a:alpha val="5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22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685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Speak Naturally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1069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D"/>
                </a:solidFill>
              </a:rPr>
              <a:t>Malayalam, Hindi, English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196596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47A">
                <a:alpha val="5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86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Instant Eligibility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0" y="2532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D"/>
                </a:solidFill>
              </a:rPr>
              <a:t>Know exactly which schemes fit you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0" y="342900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47A">
                <a:alpha val="5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49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 Guidance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583680" y="3995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D"/>
                </a:solidFill>
              </a:rPr>
              <a:t>What to get, where to apply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9E9B"/>
                </a:solidFill>
              </a:rPr>
              <a:t>"Not a replacement for government portals — a guide that prepares citizens for them."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47A"/>
          </a:solidFill>
          <a:ln w="12700">
            <a:solidFill>
              <a:srgbClr val="008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Agentic Edge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64008" cy="1188720"/>
          </a:xfrm>
          <a:prstGeom prst="rect">
            <a:avLst/>
          </a:prstGeom>
          <a:solidFill>
            <a:srgbClr val="00847A"/>
          </a:solidFill>
          <a:ln w="12700">
            <a:solidFill>
              <a:srgbClr val="008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170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Voice Interview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AI asks short questions about age, income, location, occupation &amp; category in the user's language.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64008" cy="1188720"/>
          </a:xfrm>
          <a:prstGeom prst="rect">
            <a:avLst/>
          </a:prstGeom>
          <a:solidFill>
            <a:srgbClr val="00847A"/>
          </a:solidFill>
          <a:ln w="12700">
            <a:solidFill>
              <a:srgbClr val="0084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70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15000" y="1170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Rule Matching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Responses matched against a structured scheme database using rule-based eligibility engine.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14600"/>
            <a:ext cx="64008" cy="1188720"/>
          </a:xfrm>
          <a:prstGeom prst="rect">
            <a:avLst/>
          </a:prstGeom>
          <a:solidFill>
            <a:srgbClr val="00847A"/>
          </a:solidFill>
          <a:ln w="12700">
            <a:solidFill>
              <a:srgbClr val="0084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877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25877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Document Scan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Optional: user uploads Aadhaar / Ration Card. AI extracts name, age, category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51460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514600"/>
            <a:ext cx="64008" cy="1188720"/>
          </a:xfrm>
          <a:prstGeom prst="rect">
            <a:avLst/>
          </a:prstGeom>
          <a:solidFill>
            <a:srgbClr val="00847A"/>
          </a:solidFill>
          <a:ln w="12700">
            <a:solidFill>
              <a:srgbClr val="0084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5877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4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15000" y="25877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Smart Follow-up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9718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If information is ambiguous, the AI asks targeted clarifying questions only.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393192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06040" y="3931920"/>
            <a:ext cx="64008" cy="1188720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4005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20440" y="40050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Personalised Report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834640" y="43891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User receives eligible schemes, documents needed, application steps &amp; common rejection warnings.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A3C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Scale, Speed &amp; Privacy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749040" cy="15544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D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3749040" cy="347472"/>
          </a:xfrm>
          <a:prstGeom prst="rect">
            <a:avLst/>
          </a:prstGeom>
          <a:solidFill>
            <a:srgbClr val="00A89D">
              <a:alpha val="80000"/>
            </a:srgbClr>
          </a:solidFill>
          <a:ln w="12700">
            <a:solidFill>
              <a:srgbClr val="00A89D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17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Next.js (web + mobile)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Voice input interface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331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Multilingual conversation 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606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Structured results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3749040" cy="15544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9A3C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417320"/>
            <a:ext cx="3749040" cy="347472"/>
          </a:xfrm>
          <a:prstGeom prst="rect">
            <a:avLst/>
          </a:prstGeom>
          <a:solidFill>
            <a:srgbClr val="FF9A3C">
              <a:alpha val="80000"/>
            </a:srgbClr>
          </a:solidFill>
          <a:ln w="12700">
            <a:solidFill>
              <a:srgbClr val="FF9A3C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417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Next.js API routes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2312" y="2057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JSON-based eligibility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2331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LLM integration (conversational flow)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82312" y="2606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Rule-based matching for accuracy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3749040" cy="15544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A8D5D1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246120"/>
            <a:ext cx="3749040" cy="347472"/>
          </a:xfrm>
          <a:prstGeom prst="rect">
            <a:avLst/>
          </a:prstGeom>
          <a:solidFill>
            <a:srgbClr val="A8D5D1">
              <a:alpha val="80000"/>
            </a:srgbClr>
          </a:solidFill>
          <a:ln w="12700">
            <a:solidFill>
              <a:srgbClr val="A8D5D1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246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611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Speech-to-text input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" y="3886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Text-to-speech responses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" y="4160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Multilingual models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246120"/>
            <a:ext cx="3749040" cy="15544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D49A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246120"/>
            <a:ext cx="3749040" cy="347472"/>
          </a:xfrm>
          <a:prstGeom prst="rect">
            <a:avLst/>
          </a:prstGeom>
          <a:solidFill>
            <a:srgbClr val="FFD49A">
              <a:alpha val="80000"/>
            </a:srgbClr>
          </a:solidFill>
          <a:ln w="12700">
            <a:solidFill>
              <a:srgbClr val="FFD49A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3246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Privacy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2312" y="3611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Stateless processing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82312" y="3886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No permanent doc storage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82312" y="4160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Advisory only — no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F58"/>
          </a:solidFill>
          <a:ln w="12700">
            <a:solidFill>
              <a:srgbClr val="005F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 &amp; 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Increased Access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Connect eligible citizens to schemes they never knew existed.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8988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Reduce Rejection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1874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Prepare users with exact documents — minimise errors at submission.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8988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389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Break Barriers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640" y="1874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Serve rural, elderly &amp; first-time digital users in their own language.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11480" y="29260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2724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127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Save Time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94360" y="3611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Eliminate repeat office visits and dependence on middlemen.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46120" y="29260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2724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3127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Inclusive AI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429000" y="3611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Voice-first design ensures no user is left behind by literacy gaps.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80760" y="29260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2724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127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Clarity at Scale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63640" y="3611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68"/>
                </a:solidFill>
              </a:rPr>
              <a:t>One platform. Thousands of schemes. Clear guidance for every citizen.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5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00847A">
              <a:alpha val="18000"/>
            </a:srgbClr>
          </a:solidFill>
          <a:ln w="12700">
            <a:solidFill>
              <a:srgbClr val="00847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3657600"/>
          </a:xfrm>
          <a:prstGeom prst="ellipse">
            <a:avLst/>
          </a:prstGeom>
          <a:solidFill>
            <a:srgbClr val="FF9A3C">
              <a:alpha val="13000"/>
            </a:srgbClr>
          </a:solidFill>
          <a:ln w="12700">
            <a:solidFill>
              <a:srgbClr val="FF9A3C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A89D"/>
                </a:solidFill>
              </a:rPr>
              <a:t>Humanising access to government welfare.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voice. One conversation.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scheme you deserve.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194560" cy="502920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Let's Build Together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45262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Malayalam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12280" y="45262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Hindi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45262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English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SahAI – Voice-First Welfare Navigator</dc:title>
  <dc:subject>PptxGenJS Presentation</dc:subject>
  <dc:creator>PptxGenJS</dc:creator>
  <cp:lastModifiedBy>PptxGenJS</cp:lastModifiedBy>
  <cp:revision>1</cp:revision>
  <dcterms:created xsi:type="dcterms:W3CDTF">2026-02-26T14:50:06Z</dcterms:created>
  <dcterms:modified xsi:type="dcterms:W3CDTF">2026-02-26T14:50:06Z</dcterms:modified>
</cp:coreProperties>
</file>